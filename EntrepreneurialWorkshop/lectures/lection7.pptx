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423" r:id="rId3"/>
    <p:sldId id="419" r:id="rId4"/>
    <p:sldId id="424" r:id="rId5"/>
    <p:sldId id="259" r:id="rId6"/>
    <p:sldId id="417" r:id="rId7"/>
    <p:sldId id="418" r:id="rId8"/>
    <p:sldId id="420" r:id="rId9"/>
    <p:sldId id="421" r:id="rId10"/>
    <p:sldId id="440" r:id="rId11"/>
    <p:sldId id="437" r:id="rId12"/>
    <p:sldId id="438" r:id="rId13"/>
    <p:sldId id="439" r:id="rId14"/>
    <p:sldId id="441" r:id="rId15"/>
    <p:sldId id="44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F1FCA20-F7B2-9A43-A57C-2760530661D4}">
          <p14:sldIdLst>
            <p14:sldId id="257"/>
            <p14:sldId id="423"/>
            <p14:sldId id="419"/>
            <p14:sldId id="424"/>
            <p14:sldId id="259"/>
            <p14:sldId id="417"/>
            <p14:sldId id="418"/>
            <p14:sldId id="420"/>
            <p14:sldId id="421"/>
            <p14:sldId id="440"/>
            <p14:sldId id="437"/>
            <p14:sldId id="438"/>
            <p14:sldId id="439"/>
            <p14:sldId id="441"/>
            <p14:sldId id="4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544"/>
  </p:normalViewPr>
  <p:slideViewPr>
    <p:cSldViewPr snapToGrid="0">
      <p:cViewPr varScale="1">
        <p:scale>
          <a:sx n="109" d="100"/>
          <a:sy n="109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8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51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BF94EB-264D-7118-6982-428389E3B15A}"/>
              </a:ext>
            </a:extLst>
          </p:cNvPr>
          <p:cNvSpPr txBox="1"/>
          <p:nvPr/>
        </p:nvSpPr>
        <p:spPr>
          <a:xfrm>
            <a:off x="1732344" y="2184499"/>
            <a:ext cx="8727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1D1D1B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3600" b="1" dirty="0">
                <a:solidFill>
                  <a:srgbClr val="1D1D1B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Юридические задачи дл</a:t>
            </a:r>
            <a:r>
              <a:rPr lang="ru-RU" sz="3600" b="1" dirty="0">
                <a:solidFill>
                  <a:srgbClr val="1D1D1B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 НЕ юристов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27F6D-D622-A105-F232-146CB8261C35}"/>
              </a:ext>
            </a:extLst>
          </p:cNvPr>
          <p:cNvSpPr txBox="1"/>
          <p:nvPr/>
        </p:nvSpPr>
        <p:spPr>
          <a:xfrm>
            <a:off x="4849792" y="5162309"/>
            <a:ext cx="304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ambria" panose="02040503050406030204" pitchFamily="18" charset="0"/>
              </a:rPr>
              <a:t>Просто о сложном</a:t>
            </a:r>
          </a:p>
        </p:txBody>
      </p:sp>
    </p:spTree>
    <p:extLst>
      <p:ext uri="{BB962C8B-B14F-4D97-AF65-F5344CB8AC3E}">
        <p14:creationId xmlns:p14="http://schemas.microsoft.com/office/powerpoint/2010/main" val="265510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4063901" y="0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SwedbankSans"/>
              </a:rPr>
              <a:t> 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Кто мы и зачем этот курс? 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710318" y="1454312"/>
            <a:ext cx="722260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ru-RU" sz="2400" dirty="0">
                <a:latin typeface="Century Gothic" panose="020B0502020202020204" pitchFamily="34" charset="0"/>
              </a:rPr>
              <a:t>18 + лет работы в </a:t>
            </a:r>
            <a:r>
              <a:rPr lang="en-US" sz="2400" dirty="0">
                <a:latin typeface="Century Gothic" panose="020B0502020202020204" pitchFamily="34" charset="0"/>
              </a:rPr>
              <a:t>IT </a:t>
            </a:r>
            <a:r>
              <a:rPr lang="ru-RU" sz="2400" dirty="0">
                <a:latin typeface="Century Gothic" panose="020B0502020202020204" pitchFamily="34" charset="0"/>
              </a:rPr>
              <a:t>как юрист и как руководитель команды юристов 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ru-RU" sz="2400" b="0" dirty="0">
                <a:latin typeface="Century Gothic" panose="020B0502020202020204" pitchFamily="34" charset="0"/>
              </a:rPr>
              <a:t>запускали </a:t>
            </a:r>
            <a:r>
              <a:rPr lang="en-US" sz="2400" b="0" dirty="0" err="1">
                <a:latin typeface="Century Gothic" panose="020B0502020202020204" pitchFamily="34" charset="0"/>
              </a:rPr>
              <a:t>Indriver</a:t>
            </a:r>
            <a:endParaRPr lang="en-US" sz="2400" b="0" dirty="0">
              <a:latin typeface="Century Gothic" panose="020B0502020202020204" pitchFamily="34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sz="2400" b="0" dirty="0">
                <a:latin typeface="Century Gothic" panose="020B0502020202020204" pitchFamily="34" charset="0"/>
              </a:rPr>
              <a:t>c</a:t>
            </a:r>
            <a:r>
              <a:rPr lang="ru-RU" sz="2400" b="0" dirty="0" err="1">
                <a:latin typeface="Century Gothic" panose="020B0502020202020204" pitchFamily="34" charset="0"/>
              </a:rPr>
              <a:t>опровождаем</a:t>
            </a:r>
            <a:r>
              <a:rPr lang="ru-RU" sz="2400" b="0" dirty="0">
                <a:latin typeface="Century Gothic" panose="020B0502020202020204" pitchFamily="34" charset="0"/>
              </a:rPr>
              <a:t> </a:t>
            </a:r>
            <a:r>
              <a:rPr lang="en-US" sz="2400" b="0" dirty="0" err="1">
                <a:latin typeface="Century Gothic" panose="020B0502020202020204" pitchFamily="34" charset="0"/>
              </a:rPr>
              <a:t>Oskelly</a:t>
            </a:r>
            <a:r>
              <a:rPr lang="en-US" sz="2400" b="0" dirty="0">
                <a:latin typeface="Century Gothic" panose="020B0502020202020204" pitchFamily="34" charset="0"/>
              </a:rPr>
              <a:t> 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sz="2400" b="0" dirty="0">
                <a:latin typeface="Century Gothic" panose="020B0502020202020204" pitchFamily="34" charset="0"/>
              </a:rPr>
              <a:t> </a:t>
            </a:r>
            <a:r>
              <a:rPr lang="ru-RU" sz="2400" b="0" dirty="0">
                <a:latin typeface="Century Gothic" panose="020B0502020202020204" pitchFamily="34" charset="0"/>
              </a:rPr>
              <a:t>юристы экосистемы Лучи</a:t>
            </a:r>
          </a:p>
          <a:p>
            <a:endParaRPr lang="ru-RU" sz="2400" dirty="0">
              <a:latin typeface="Cambria" panose="02040503050406030204" pitchFamily="18" charset="0"/>
            </a:endParaRPr>
          </a:p>
          <a:p>
            <a:r>
              <a:rPr lang="ru-RU" sz="2400" dirty="0">
                <a:latin typeface="Cambria" panose="02040503050406030204" pitchFamily="18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ED3335-2B47-0695-B820-B680663B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996" y="3464697"/>
            <a:ext cx="2759051" cy="275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SwedbankSans"/>
              </a:rPr>
              <a:t> 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Основные блоки вопросов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1786204"/>
            <a:ext cx="72226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Права на продукт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Персональные данные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Договорная модель (договоры)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Корпоративные вопросы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Налоги и льготы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Трудовые отношения </a:t>
            </a:r>
          </a:p>
        </p:txBody>
      </p:sp>
    </p:spTree>
    <p:extLst>
      <p:ext uri="{BB962C8B-B14F-4D97-AF65-F5344CB8AC3E}">
        <p14:creationId xmlns:p14="http://schemas.microsoft.com/office/powerpoint/2010/main" val="285628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SwedbankSans"/>
              </a:rPr>
              <a:t> </a:t>
            </a:r>
            <a:r>
              <a:rPr lang="ru-RU" sz="2800" b="1" dirty="0">
                <a:solidFill>
                  <a:srgbClr val="212020"/>
                </a:solidFill>
                <a:latin typeface="Cambria" panose="02040503050406030204" pitchFamily="18" charset="0"/>
              </a:rPr>
              <a:t>Что несет основные риски?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1786204"/>
            <a:ext cx="72226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Права на продукт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Персональные данные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Договорная модель (договоры)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Корпоративные вопросы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Налоги и льготы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Трудовые отношения </a:t>
            </a:r>
          </a:p>
        </p:txBody>
      </p:sp>
    </p:spTree>
    <p:extLst>
      <p:ext uri="{BB962C8B-B14F-4D97-AF65-F5344CB8AC3E}">
        <p14:creationId xmlns:p14="http://schemas.microsoft.com/office/powerpoint/2010/main" val="7195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SwedbankSans"/>
              </a:rPr>
              <a:t> 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Разработка продукта </a:t>
            </a:r>
            <a:endParaRPr lang="en-US" sz="2800" b="1" i="0" dirty="0">
              <a:solidFill>
                <a:srgbClr val="212020"/>
              </a:solidFill>
              <a:effectLst/>
              <a:latin typeface="Cambria" panose="02040503050406030204" pitchFamily="18" charset="0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(до создания юридического лица)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2141873"/>
            <a:ext cx="72226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Права на продукт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Отношения с партнером (при наличии)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E64A0-B126-9CA5-4488-92EA19BB5025}"/>
              </a:ext>
            </a:extLst>
          </p:cNvPr>
          <p:cNvSpPr txBox="1"/>
          <p:nvPr/>
        </p:nvSpPr>
        <p:spPr>
          <a:xfrm>
            <a:off x="6096000" y="4314092"/>
            <a:ext cx="4900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mbria" panose="02040503050406030204" pitchFamily="18" charset="0"/>
              </a:rPr>
              <a:t>Отсутствие юридического лица – не повод не заниматься юридическими задачами </a:t>
            </a:r>
          </a:p>
        </p:txBody>
      </p:sp>
    </p:spTree>
    <p:extLst>
      <p:ext uri="{BB962C8B-B14F-4D97-AF65-F5344CB8AC3E}">
        <p14:creationId xmlns:p14="http://schemas.microsoft.com/office/powerpoint/2010/main" val="264789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Создание юридического лица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SwedbankSans"/>
              </a:rPr>
              <a:t>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2141873"/>
            <a:ext cx="72226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Права на продукт- перенос </a:t>
            </a:r>
            <a:r>
              <a:rPr lang="en-US" sz="2400" dirty="0">
                <a:latin typeface="Cambria" panose="02040503050406030204" pitchFamily="18" charset="0"/>
              </a:rPr>
              <a:t>IP </a:t>
            </a:r>
            <a:r>
              <a:rPr lang="ru-RU" sz="2400" dirty="0">
                <a:latin typeface="Cambria" panose="02040503050406030204" pitchFamily="18" charset="0"/>
              </a:rPr>
              <a:t>в компанию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Отношения с партнером (при наличии)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Налоги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Cambria" panose="02040503050406030204" pitchFamily="18" charset="0"/>
              </a:rPr>
              <a:t>Проверка названия </a:t>
            </a:r>
          </a:p>
        </p:txBody>
      </p:sp>
    </p:spTree>
    <p:extLst>
      <p:ext uri="{BB962C8B-B14F-4D97-AF65-F5344CB8AC3E}">
        <p14:creationId xmlns:p14="http://schemas.microsoft.com/office/powerpoint/2010/main" val="247854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en-US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MVP 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продукта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1601538"/>
            <a:ext cx="72226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8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</a:t>
            </a:r>
            <a:r>
              <a:rPr lang="ru-RU" sz="2800" dirty="0">
                <a:solidFill>
                  <a:srgbClr val="212020"/>
                </a:solidFill>
                <a:latin typeface="Cambria" panose="02040503050406030204" pitchFamily="18" charset="0"/>
              </a:rPr>
              <a:t>Ю</a:t>
            </a:r>
            <a:r>
              <a:rPr lang="ru-RU" sz="28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ридическая  модель сервиса;</a:t>
            </a:r>
          </a:p>
          <a:p>
            <a:pPr algn="l"/>
            <a:endParaRPr lang="ru-RU" sz="2800" b="0" i="0" dirty="0">
              <a:solidFill>
                <a:srgbClr val="212020"/>
              </a:solidFill>
              <a:effectLst/>
              <a:latin typeface="Cambria" panose="02040503050406030204" pitchFamily="18" charset="0"/>
            </a:endParaRPr>
          </a:p>
          <a:p>
            <a:pPr algn="l"/>
            <a:r>
              <a:rPr lang="ru-RU" sz="28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Договоры для функционирования сервиса;</a:t>
            </a:r>
          </a:p>
          <a:p>
            <a:pPr algn="l"/>
            <a:endParaRPr lang="ru-RU" sz="2800" dirty="0">
              <a:solidFill>
                <a:srgbClr val="212020"/>
              </a:solidFill>
              <a:latin typeface="Cambria" panose="02040503050406030204" pitchFamily="18" charset="0"/>
            </a:endParaRPr>
          </a:p>
          <a:p>
            <a:pPr algn="l"/>
            <a:r>
              <a:rPr lang="ru-RU" sz="28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Риски.</a:t>
            </a:r>
          </a:p>
          <a:p>
            <a:endParaRPr lang="ru-RU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88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Увеличение штата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1601538"/>
            <a:ext cx="72226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Режим  коммерческой тайны;</a:t>
            </a:r>
          </a:p>
          <a:p>
            <a:pPr algn="l"/>
            <a:r>
              <a:rPr lang="ru-RU" sz="2400" dirty="0">
                <a:solidFill>
                  <a:srgbClr val="212020"/>
                </a:solidFill>
                <a:latin typeface="Cambria" panose="02040503050406030204" pitchFamily="18" charset="0"/>
              </a:rPr>
              <a:t>- </a:t>
            </a:r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 Режим служебных произведений (см. ниже);</a:t>
            </a:r>
          </a:p>
          <a:p>
            <a:pPr algn="l"/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Внутренние документы по обработке </a:t>
            </a:r>
            <a:r>
              <a:rPr lang="ru-RU" sz="2400" b="0" dirty="0" err="1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ПДн</a:t>
            </a:r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;</a:t>
            </a:r>
          </a:p>
          <a:p>
            <a:pPr algn="l"/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ПВТР и корректные договоры (должностные инструкции);</a:t>
            </a:r>
          </a:p>
          <a:p>
            <a:pPr algn="l"/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</a:t>
            </a:r>
            <a:r>
              <a:rPr lang="ru-RU" sz="2400" dirty="0">
                <a:solidFill>
                  <a:srgbClr val="212020"/>
                </a:solidFill>
                <a:latin typeface="Cambria" panose="02040503050406030204" pitchFamily="18" charset="0"/>
              </a:rPr>
              <a:t>В</a:t>
            </a:r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озможно  опционная  программа</a:t>
            </a:r>
          </a:p>
          <a:p>
            <a:pPr algn="l"/>
            <a:r>
              <a:rPr lang="ru-RU" sz="2400" b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 (фантомные и (или) реальные опционы).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95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Выход за рубеж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6104B-E0F2-60AA-718A-7227B06E789A}"/>
              </a:ext>
            </a:extLst>
          </p:cNvPr>
          <p:cNvSpPr txBox="1"/>
          <p:nvPr/>
        </p:nvSpPr>
        <p:spPr>
          <a:xfrm>
            <a:off x="3682406" y="1601538"/>
            <a:ext cx="722260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</a:t>
            </a:r>
            <a:r>
              <a:rPr lang="ru-RU" sz="3200" dirty="0">
                <a:solidFill>
                  <a:srgbClr val="212020"/>
                </a:solidFill>
                <a:latin typeface="Cambria" panose="02040503050406030204" pitchFamily="18" charset="0"/>
              </a:rPr>
              <a:t>Адаптация </a:t>
            </a:r>
            <a:r>
              <a:rPr lang="ru-RU" sz="32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 юридической модели;</a:t>
            </a:r>
          </a:p>
          <a:p>
            <a:pPr algn="l"/>
            <a:r>
              <a:rPr lang="ru-RU" sz="32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- </a:t>
            </a:r>
            <a:r>
              <a:rPr lang="ru-RU" sz="3200" dirty="0">
                <a:solidFill>
                  <a:srgbClr val="212020"/>
                </a:solidFill>
                <a:latin typeface="Cambria" panose="02040503050406030204" pitchFamily="18" charset="0"/>
              </a:rPr>
              <a:t>Д</a:t>
            </a:r>
            <a:r>
              <a:rPr lang="ru-RU" sz="3200" b="0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оговоры для функционирования сервиса с учетом страновых особенностей;</a:t>
            </a:r>
          </a:p>
          <a:p>
            <a:pPr algn="l"/>
            <a:r>
              <a:rPr lang="ru-RU" sz="3200" dirty="0">
                <a:solidFill>
                  <a:srgbClr val="212020"/>
                </a:solidFill>
                <a:latin typeface="Cambria" panose="02040503050406030204" pitchFamily="18" charset="0"/>
              </a:rPr>
              <a:t>- Налоги и льготы</a:t>
            </a:r>
            <a:endParaRPr lang="ru-RU" sz="3200" b="0" i="0" dirty="0">
              <a:solidFill>
                <a:srgbClr val="212020"/>
              </a:solidFill>
              <a:effectLst/>
              <a:latin typeface="Cambria" panose="02040503050406030204" pitchFamily="18" charset="0"/>
            </a:endParaRPr>
          </a:p>
          <a:p>
            <a:endParaRPr lang="ru-RU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91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4" y="0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создание РИД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B9B4C-9B26-896E-C678-B56ADB450A52}"/>
              </a:ext>
            </a:extLst>
          </p:cNvPr>
          <p:cNvSpPr txBox="1"/>
          <p:nvPr/>
        </p:nvSpPr>
        <p:spPr>
          <a:xfrm>
            <a:off x="3692769" y="1746738"/>
            <a:ext cx="692833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1146" marR="0" lvl="0" indent="-39114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Char char="•"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Заплатил – права получил </a:t>
            </a:r>
            <a:endParaRPr lang="ru-RU" sz="2000" dirty="0">
              <a:latin typeface="Cambria" panose="02040503050406030204" pitchFamily="18" charset="0"/>
            </a:endParaRPr>
          </a:p>
          <a:p>
            <a:pPr marL="391146" marR="0" lvl="0" indent="-391146" algn="l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Char char="•"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Использую объект – права получил</a:t>
            </a:r>
            <a:endParaRPr lang="ru-RU" sz="2000" dirty="0">
              <a:latin typeface="Cambria" panose="02040503050406030204" pitchFamily="18" charset="0"/>
            </a:endParaRPr>
          </a:p>
          <a:p>
            <a:pPr marL="391146" marR="0" lvl="0" indent="-391146" algn="l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Char char="•"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Мой работник - мои права</a:t>
            </a:r>
            <a:endParaRPr lang="ru-RU" sz="2000" dirty="0">
              <a:latin typeface="Cambria" panose="02040503050406030204" pitchFamily="18" charset="0"/>
            </a:endParaRPr>
          </a:p>
          <a:p>
            <a:pPr marL="391146" marR="0" lvl="0" indent="-391146" algn="l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Char char="•"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У меня патент на ПО (чаще регистрация как программы для ЭВМ)</a:t>
            </a:r>
            <a:endParaRPr lang="ru-RU" sz="2000" dirty="0">
              <a:latin typeface="Cambria" panose="02040503050406030204" pitchFamily="18" charset="0"/>
            </a:endParaRPr>
          </a:p>
          <a:p>
            <a:pPr marL="391146" marR="0" lvl="0" indent="-231316" algn="l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ru-RU"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ru-RU" sz="28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774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Категории </a:t>
            </a:r>
            <a:r>
              <a:rPr lang="ru-RU" sz="2800" b="1" i="0" dirty="0" err="1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ПДн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D8605-7226-96AF-8230-A3CE033ED707}"/>
              </a:ext>
            </a:extLst>
          </p:cNvPr>
          <p:cNvSpPr txBox="1"/>
          <p:nvPr/>
        </p:nvSpPr>
        <p:spPr>
          <a:xfrm>
            <a:off x="3970116" y="1955481"/>
            <a:ext cx="705729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ru-RU" sz="2800" b="1" dirty="0">
              <a:solidFill>
                <a:srgbClr val="212020"/>
              </a:solidFill>
              <a:latin typeface="Cambria" panose="0204050305040603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80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Общедоступные. </a:t>
            </a:r>
          </a:p>
          <a:p>
            <a:pPr algn="l">
              <a:buFont typeface="+mj-lt"/>
              <a:buAutoNum type="arabicPeriod"/>
            </a:pPr>
            <a:endParaRPr lang="ru-RU" sz="280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80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Специальные. </a:t>
            </a:r>
          </a:p>
          <a:p>
            <a:pPr algn="l">
              <a:buFont typeface="+mj-lt"/>
              <a:buAutoNum type="arabicPeriod"/>
            </a:pPr>
            <a:endParaRPr lang="ru-RU" sz="280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80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Биометрические. </a:t>
            </a:r>
          </a:p>
          <a:p>
            <a:pPr algn="l">
              <a:buFont typeface="+mj-lt"/>
              <a:buAutoNum type="arabicPeriod"/>
            </a:pPr>
            <a:endParaRPr lang="ru-RU" sz="280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80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Иные</a:t>
            </a:r>
            <a:r>
              <a:rPr lang="ru-RU" sz="28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</a:rPr>
              <a:t>. </a:t>
            </a:r>
            <a:endParaRPr lang="ru-RU" sz="2800" i="0" dirty="0">
              <a:solidFill>
                <a:srgbClr val="212020"/>
              </a:solidFill>
              <a:effectLst/>
              <a:latin typeface="Cambria" panose="020405030504060302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75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Что такое обработка </a:t>
            </a:r>
            <a:r>
              <a:rPr lang="ru-RU" sz="2800" b="1" i="0" dirty="0" err="1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ПДн</a:t>
            </a:r>
            <a:r>
              <a:rPr lang="ru-RU" sz="2800" b="1" i="0" dirty="0">
                <a:solidFill>
                  <a:srgbClr val="212020"/>
                </a:solidFill>
                <a:effectLst/>
                <a:latin typeface="Cambria" panose="02040503050406030204" pitchFamily="18" charset="0"/>
              </a:rPr>
              <a:t> и оператор? 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58AD2-0AF3-3AB6-9E9A-72ADDD1E2488}"/>
              </a:ext>
            </a:extLst>
          </p:cNvPr>
          <p:cNvSpPr txBox="1"/>
          <p:nvPr/>
        </p:nvSpPr>
        <p:spPr>
          <a:xfrm>
            <a:off x="3810000" y="2473569"/>
            <a:ext cx="73034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dirty="0">
                <a:effectLst/>
                <a:latin typeface="Cambria" panose="02040503050406030204" pitchFamily="18" charset="0"/>
              </a:rPr>
              <a:t>самостоятельно или совместно с другими лицами организующие и (или) осуществляющие обработку персональных данных, а также определяющие цели обработки персональных данных, состав персональных данных, подлежащих обработке, действия (операции), совершаемые с персональными данными;</a:t>
            </a:r>
            <a:br>
              <a:rPr lang="ru-RU" sz="2400" b="0" dirty="0">
                <a:effectLst/>
                <a:latin typeface="Cambria" panose="02040503050406030204" pitchFamily="18" charset="0"/>
              </a:rPr>
            </a:br>
            <a:endParaRPr lang="ru-RU" sz="2400" b="0" dirty="0">
              <a:effectLst/>
              <a:latin typeface="Cambria" panose="020405030504060302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2063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u="none" strike="noStrike" cap="none" dirty="0">
                <a:solidFill>
                  <a:srgbClr val="212020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внешний контур или «красим фасад»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58AD2-0AF3-3AB6-9E9A-72ADDD1E2488}"/>
              </a:ext>
            </a:extLst>
          </p:cNvPr>
          <p:cNvSpPr txBox="1"/>
          <p:nvPr/>
        </p:nvSpPr>
        <p:spPr>
          <a:xfrm>
            <a:off x="3810000" y="2473569"/>
            <a:ext cx="73034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</a:rPr>
              <a:t>Политика обработки </a:t>
            </a:r>
            <a:r>
              <a:rPr lang="ru-RU" sz="2400" b="1" dirty="0" err="1">
                <a:latin typeface="Cambria" panose="02040503050406030204" pitchFamily="18" charset="0"/>
              </a:rPr>
              <a:t>ПДн</a:t>
            </a:r>
            <a:r>
              <a:rPr lang="ru-RU" sz="2400" dirty="0">
                <a:latin typeface="Cambria" panose="02040503050406030204" pitchFamily="18" charset="0"/>
              </a:rPr>
              <a:t>: в подвале сайта </a:t>
            </a:r>
          </a:p>
          <a:p>
            <a:endParaRPr lang="ru-RU" sz="2400" dirty="0">
              <a:latin typeface="Cambria" panose="02040503050406030204" pitchFamily="18" charset="0"/>
            </a:endParaRPr>
          </a:p>
          <a:p>
            <a:r>
              <a:rPr lang="ru-RU" sz="2400" b="1" dirty="0">
                <a:latin typeface="Cambria" panose="02040503050406030204" pitchFamily="18" charset="0"/>
              </a:rPr>
              <a:t>Согласие на обработку </a:t>
            </a:r>
            <a:r>
              <a:rPr lang="ru-RU" sz="2400" b="1" dirty="0" err="1">
                <a:latin typeface="Cambria" panose="02040503050406030204" pitchFamily="18" charset="0"/>
              </a:rPr>
              <a:t>ПДн</a:t>
            </a:r>
            <a:r>
              <a:rPr lang="ru-RU" sz="2400" b="1" dirty="0">
                <a:latin typeface="Cambria" panose="02040503050406030204" pitchFamily="18" charset="0"/>
              </a:rPr>
              <a:t>: </a:t>
            </a:r>
          </a:p>
          <a:p>
            <a:r>
              <a:rPr lang="ru-RU" sz="2400" dirty="0">
                <a:latin typeface="Cambria" panose="02040503050406030204" pitchFamily="18" charset="0"/>
              </a:rPr>
              <a:t>- акцепт (</a:t>
            </a:r>
            <a:r>
              <a:rPr lang="en-US" sz="2400" dirty="0">
                <a:latin typeface="Cambria" panose="02040503050406030204" pitchFamily="18" charset="0"/>
              </a:rPr>
              <a:t>log </a:t>
            </a:r>
            <a:r>
              <a:rPr lang="ru-RU" sz="2400" dirty="0">
                <a:latin typeface="Cambria" panose="02040503050406030204" pitchFamily="18" charset="0"/>
              </a:rPr>
              <a:t>файл);</a:t>
            </a:r>
          </a:p>
          <a:p>
            <a:r>
              <a:rPr lang="ru-RU" sz="2400" dirty="0">
                <a:latin typeface="Cambria" panose="02040503050406030204" pitchFamily="18" charset="0"/>
              </a:rPr>
              <a:t>- 1 цель – 1 согласие; </a:t>
            </a:r>
          </a:p>
          <a:p>
            <a:r>
              <a:rPr lang="ru-RU" sz="2400" dirty="0">
                <a:latin typeface="Cambria" panose="02040503050406030204" pitchFamily="18" charset="0"/>
              </a:rPr>
              <a:t>- возможно в рамках заключения договора </a:t>
            </a:r>
          </a:p>
          <a:p>
            <a:endParaRPr lang="ru-RU" sz="2400" dirty="0">
              <a:latin typeface="Cambria" panose="02040503050406030204" pitchFamily="18" charset="0"/>
            </a:endParaRPr>
          </a:p>
          <a:p>
            <a:r>
              <a:rPr lang="ru-RU" sz="2400" b="1" dirty="0">
                <a:latin typeface="Cambria" panose="02040503050406030204" pitchFamily="18" charset="0"/>
              </a:rPr>
              <a:t>Уведомление в РКН</a:t>
            </a:r>
          </a:p>
          <a:p>
            <a:endParaRPr lang="ru-RU" sz="2400" b="1" dirty="0">
              <a:latin typeface="Cambria" panose="02040503050406030204" pitchFamily="18" charset="0"/>
            </a:endParaRPr>
          </a:p>
          <a:p>
            <a:r>
              <a:rPr lang="ru-RU" sz="2400" b="1" dirty="0">
                <a:latin typeface="Cambria" panose="02040503050406030204" pitchFamily="18" charset="0"/>
              </a:rPr>
              <a:t>Локализация </a:t>
            </a:r>
            <a:r>
              <a:rPr lang="ru-RU" sz="2400" b="1" dirty="0" err="1">
                <a:latin typeface="Cambria" panose="02040503050406030204" pitchFamily="18" charset="0"/>
              </a:rPr>
              <a:t>ПДн</a:t>
            </a:r>
            <a:r>
              <a:rPr lang="ru-RU" sz="2400" b="1" dirty="0">
                <a:latin typeface="Cambria" panose="02040503050406030204" pitchFamily="18" charset="0"/>
              </a:rPr>
              <a:t>  </a:t>
            </a:r>
          </a:p>
          <a:p>
            <a:br>
              <a:rPr lang="ru-RU" sz="2400" b="0" dirty="0">
                <a:effectLst/>
                <a:latin typeface="Cambria" panose="02040503050406030204" pitchFamily="18" charset="0"/>
              </a:rPr>
            </a:br>
            <a:endParaRPr lang="ru-RU" sz="2400" b="0" dirty="0">
              <a:effectLst/>
              <a:latin typeface="Cambria" panose="020405030504060302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217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u="none" strike="noStrike" cap="none" dirty="0">
                <a:solidFill>
                  <a:srgbClr val="212020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Налоговые льготы </a:t>
            </a:r>
            <a:r>
              <a:rPr lang="en-US" sz="2800" b="1" u="none" strike="noStrike" cap="none" dirty="0">
                <a:solidFill>
                  <a:srgbClr val="212020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IT </a:t>
            </a:r>
            <a:r>
              <a:rPr lang="ru-RU" sz="2800" b="1" u="none" strike="noStrike" cap="none" dirty="0">
                <a:solidFill>
                  <a:srgbClr val="212020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сектора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58AD2-0AF3-3AB6-9E9A-72ADDD1E2488}"/>
              </a:ext>
            </a:extLst>
          </p:cNvPr>
          <p:cNvSpPr txBox="1"/>
          <p:nvPr/>
        </p:nvSpPr>
        <p:spPr>
          <a:xfrm>
            <a:off x="3810000" y="2473569"/>
            <a:ext cx="7303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</a:rPr>
              <a:t>НДС</a:t>
            </a:r>
          </a:p>
          <a:p>
            <a:r>
              <a:rPr lang="ru-RU" sz="2400" b="1" dirty="0">
                <a:latin typeface="Cambria" panose="02040503050406030204" pitchFamily="18" charset="0"/>
              </a:rPr>
              <a:t>Налог на прибыль</a:t>
            </a:r>
          </a:p>
          <a:p>
            <a:r>
              <a:rPr lang="ru-RU" sz="2400" b="1" dirty="0">
                <a:latin typeface="Cambria" panose="02040503050406030204" pitchFamily="18" charset="0"/>
              </a:rPr>
              <a:t>Страховые взносы</a:t>
            </a:r>
          </a:p>
          <a:p>
            <a:br>
              <a:rPr lang="ru-RU" sz="2400" b="0" dirty="0">
                <a:effectLst/>
                <a:latin typeface="Cambria" panose="02040503050406030204" pitchFamily="18" charset="0"/>
              </a:rPr>
            </a:br>
            <a:endParaRPr lang="ru-RU" sz="2400" b="0" dirty="0">
              <a:effectLst/>
              <a:latin typeface="Cambria" panose="020405030504060302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096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6;p3">
            <a:extLst>
              <a:ext uri="{FF2B5EF4-FFF2-40B4-BE49-F238E27FC236}">
                <a16:creationId xmlns:a16="http://schemas.microsoft.com/office/drawing/2014/main" id="{08A74CF6-83E0-708A-4624-70114B4FF370}"/>
              </a:ext>
            </a:extLst>
          </p:cNvPr>
          <p:cNvSpPr txBox="1"/>
          <p:nvPr/>
        </p:nvSpPr>
        <p:spPr>
          <a:xfrm>
            <a:off x="3970116" y="470392"/>
            <a:ext cx="6647185" cy="339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950" tIns="35475" rIns="70950" bIns="35475" anchor="t" anchorCtr="0">
            <a:normAutofit/>
          </a:bodyPr>
          <a:lstStyle/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endParaRPr lang="en-US"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91146" marR="0" lvl="0" indent="-231316" algn="ctr" rtl="0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2517"/>
              <a:buFont typeface="Arial"/>
              <a:buNone/>
            </a:pPr>
            <a:r>
              <a:rPr lang="ru-RU" sz="2800" b="1" u="none" strike="noStrike" cap="none" dirty="0">
                <a:solidFill>
                  <a:srgbClr val="212020"/>
                </a:solidFill>
                <a:latin typeface="Cambria" panose="02040503050406030204" pitchFamily="18" charset="0"/>
                <a:ea typeface="Times New Roman"/>
                <a:cs typeface="Times New Roman"/>
                <a:sym typeface="Times New Roman"/>
              </a:rPr>
              <a:t>Рекламные рассылки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58AD2-0AF3-3AB6-9E9A-72ADDD1E2488}"/>
              </a:ext>
            </a:extLst>
          </p:cNvPr>
          <p:cNvSpPr txBox="1"/>
          <p:nvPr/>
        </p:nvSpPr>
        <p:spPr>
          <a:xfrm>
            <a:off x="3810000" y="2473569"/>
            <a:ext cx="730347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</a:rPr>
              <a:t>- законный сбор </a:t>
            </a:r>
            <a:r>
              <a:rPr lang="ru-RU" sz="2400" b="1" dirty="0" err="1">
                <a:latin typeface="Cambria" panose="02040503050406030204" pitchFamily="18" charset="0"/>
              </a:rPr>
              <a:t>ПДн</a:t>
            </a:r>
            <a:endParaRPr lang="ru-RU" sz="2400" b="1" dirty="0">
              <a:latin typeface="Cambria" panose="02040503050406030204" pitchFamily="18" charset="0"/>
            </a:endParaRPr>
          </a:p>
          <a:p>
            <a:endParaRPr lang="ru-RU" sz="2400" b="1" dirty="0">
              <a:latin typeface="Cambria" panose="02040503050406030204" pitchFamily="18" charset="0"/>
            </a:endParaRPr>
          </a:p>
          <a:p>
            <a:r>
              <a:rPr lang="ru-RU" sz="2400" b="1" dirty="0">
                <a:latin typeface="Cambria" panose="02040503050406030204" pitchFamily="18" charset="0"/>
              </a:rPr>
              <a:t>- согласие на рекламную коммуникацию</a:t>
            </a:r>
          </a:p>
          <a:p>
            <a:endParaRPr lang="ru-RU" sz="2400" b="1" dirty="0">
              <a:latin typeface="Cambria" panose="02040503050406030204" pitchFamily="18" charset="0"/>
            </a:endParaRPr>
          </a:p>
          <a:p>
            <a:r>
              <a:rPr lang="ru-RU" sz="2400" b="1" dirty="0">
                <a:latin typeface="Cambria" panose="02040503050406030204" pitchFamily="18" charset="0"/>
              </a:rPr>
              <a:t>- русский язык)</a:t>
            </a:r>
          </a:p>
          <a:p>
            <a:br>
              <a:rPr lang="ru-RU" sz="2400" b="0" dirty="0">
                <a:effectLst/>
                <a:latin typeface="Cambria" panose="02040503050406030204" pitchFamily="18" charset="0"/>
              </a:rPr>
            </a:br>
            <a:endParaRPr lang="ru-RU" sz="2400" b="0" dirty="0">
              <a:effectLst/>
              <a:latin typeface="Cambria" panose="020405030504060302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082926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5812</TotalTime>
  <Words>375</Words>
  <Application>Microsoft Macintosh PowerPoint</Application>
  <PresentationFormat>Широкоэкранный</PresentationFormat>
  <Paragraphs>119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Century Gothic</vt:lpstr>
      <vt:lpstr>Open Sans</vt:lpstr>
      <vt:lpstr>SwedbankSans</vt:lpstr>
      <vt:lpstr>Times New Roman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Волк</dc:creator>
  <cp:lastModifiedBy>Людмила Харитонова </cp:lastModifiedBy>
  <cp:revision>20</cp:revision>
  <dcterms:created xsi:type="dcterms:W3CDTF">2022-10-19T11:28:50Z</dcterms:created>
  <dcterms:modified xsi:type="dcterms:W3CDTF">2026-03-31T19:01:30Z</dcterms:modified>
</cp:coreProperties>
</file>